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257" r:id="rId5"/>
    <p:sldId id="472" r:id="rId6"/>
    <p:sldId id="477" r:id="rId7"/>
    <p:sldId id="491" r:id="rId8"/>
    <p:sldId id="492" r:id="rId9"/>
    <p:sldId id="494" r:id="rId10"/>
    <p:sldId id="487" r:id="rId11"/>
    <p:sldId id="497" r:id="rId12"/>
    <p:sldId id="475" r:id="rId13"/>
    <p:sldId id="509" r:id="rId14"/>
    <p:sldId id="50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DA5AD71-53B0-40D7-B566-98C408058252}">
          <p14:sldIdLst>
            <p14:sldId id="257"/>
          </p14:sldIdLst>
        </p14:section>
        <p14:section name="Summary Section" id="{D77EC44D-A8B0-4F40-853F-74972E778DB6}">
          <p14:sldIdLst/>
        </p14:section>
        <p14:section name="Introduction" id="{E06C22F7-7123-4549-9873-29B48248082A}">
          <p14:sldIdLst>
            <p14:sldId id="472"/>
            <p14:sldId id="477"/>
            <p14:sldId id="491"/>
            <p14:sldId id="492"/>
            <p14:sldId id="494"/>
          </p14:sldIdLst>
        </p14:section>
        <p14:section name="Literature Survey" id="{F9559507-ABA7-4BD3-908D-65B0AEEEC233}">
          <p14:sldIdLst/>
        </p14:section>
        <p14:section name="Datasets" id="{08CD44C5-CA16-4A65-AEB8-73602A004907}">
          <p14:sldIdLst>
            <p14:sldId id="487"/>
            <p14:sldId id="497"/>
          </p14:sldIdLst>
        </p14:section>
        <p14:section name="Research Objectives" id="{64C44BCA-168F-472A-881A-F6B13FADB2D1}">
          <p14:sldIdLst>
            <p14:sldId id="475"/>
            <p14:sldId id="509"/>
            <p14:sldId id="503"/>
          </p14:sldIdLst>
        </p14:section>
        <p14:section name="Methodology" id="{76715DF4-117C-4DC3-9C92-63089F0F2F02}">
          <p14:sldIdLst/>
        </p14:section>
        <p14:section name="GANTT Chart" id="{6093A283-5241-415F-8420-AB05DE4B5A74}">
          <p14:sldIdLst/>
        </p14:section>
        <p14:section name="References" id="{7B7DCA32-5733-4CCE-B166-E1514C57566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8479"/>
  </p:normalViewPr>
  <p:slideViewPr>
    <p:cSldViewPr snapToGrid="0">
      <p:cViewPr varScale="1">
        <p:scale>
          <a:sx n="58" d="100"/>
          <a:sy n="58" d="100"/>
        </p:scale>
        <p:origin x="119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3BB2A2-E813-482E-B262-6DAE8B419666}" type="datetimeFigureOut">
              <a:rPr lang="en-IN" smtClean="0"/>
              <a:t>30-10-2025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CF05CA-748F-4643-9C6A-038EFFA52DED}" type="slidenum">
              <a:rPr lang="en-IN" smtClean="0"/>
              <a:t>‹#›</a:t>
            </a:fld>
            <a:endParaRPr lang="en-IN"/>
          </a:p>
        </p:txBody>
      </p:sp>
    </p:spTree>
    <p:extLst>
      <p:ext uri="{BB962C8B-B14F-4D97-AF65-F5344CB8AC3E}">
        <p14:creationId xmlns:p14="http://schemas.microsoft.com/office/powerpoint/2010/main" val="3229322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A904CA-8095-4A4D-B4DC-91F8117482DA}" type="slidenum">
              <a:rPr lang="en-US" smtClean="0"/>
              <a:pPr/>
              <a:t>1</a:t>
            </a:fld>
            <a:endParaRPr lang="en-US"/>
          </a:p>
        </p:txBody>
      </p:sp>
    </p:spTree>
    <p:extLst>
      <p:ext uri="{BB962C8B-B14F-4D97-AF65-F5344CB8AC3E}">
        <p14:creationId xmlns:p14="http://schemas.microsoft.com/office/powerpoint/2010/main" val="2156485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CF05CA-748F-4643-9C6A-038EFFA52DED}" type="slidenum">
              <a:rPr lang="en-IN" smtClean="0"/>
              <a:t>3</a:t>
            </a:fld>
            <a:endParaRPr lang="en-IN"/>
          </a:p>
        </p:txBody>
      </p:sp>
    </p:spTree>
    <p:extLst>
      <p:ext uri="{BB962C8B-B14F-4D97-AF65-F5344CB8AC3E}">
        <p14:creationId xmlns:p14="http://schemas.microsoft.com/office/powerpoint/2010/main" val="3490520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Cancer is a genetic disease that can occur in any organ. It occurs due to genetic changes due to DNA damage.</a:t>
            </a:r>
          </a:p>
          <a:p>
            <a:endParaRPr lang="en-US" dirty="0"/>
          </a:p>
          <a:p>
            <a:r>
              <a:rPr lang="en-US" dirty="0"/>
              <a:t>Genes in the DNA dictate how cells divide and grow.</a:t>
            </a:r>
          </a:p>
          <a:p>
            <a:endParaRPr lang="en-US" dirty="0"/>
          </a:p>
          <a:p>
            <a:r>
              <a:rPr lang="en-US" dirty="0"/>
              <a:t>So when the genes are damaged, the cell division and growth become irregular.</a:t>
            </a:r>
          </a:p>
          <a:p>
            <a:endParaRPr lang="en-US" dirty="0"/>
          </a:p>
          <a:p>
            <a:r>
              <a:rPr lang="en-US" dirty="0"/>
              <a:t>This uncontrolled growth in cells can happen due to exposure to hazardous chemicals, UV rays, genetic inheritance </a:t>
            </a:r>
            <a:r>
              <a:rPr lang="en-US" dirty="0" err="1"/>
              <a:t>etd</a:t>
            </a:r>
            <a:r>
              <a:rPr lang="en-US" dirty="0"/>
              <a:t>.</a:t>
            </a:r>
          </a:p>
        </p:txBody>
      </p:sp>
      <p:sp>
        <p:nvSpPr>
          <p:cNvPr id="4" name="Slide Number Placeholder 3"/>
          <p:cNvSpPr>
            <a:spLocks noGrp="1"/>
          </p:cNvSpPr>
          <p:nvPr>
            <p:ph type="sldNum" sz="quarter" idx="5"/>
          </p:nvPr>
        </p:nvSpPr>
        <p:spPr/>
        <p:txBody>
          <a:bodyPr/>
          <a:lstStyle/>
          <a:p>
            <a:fld id="{B4CF05CA-748F-4643-9C6A-038EFFA52DED}" type="slidenum">
              <a:rPr lang="en-IN" smtClean="0"/>
              <a:t>4</a:t>
            </a:fld>
            <a:endParaRPr lang="en-IN"/>
          </a:p>
        </p:txBody>
      </p:sp>
    </p:spTree>
    <p:extLst>
      <p:ext uri="{BB962C8B-B14F-4D97-AF65-F5344CB8AC3E}">
        <p14:creationId xmlns:p14="http://schemas.microsoft.com/office/powerpoint/2010/main" val="408561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CF05CA-748F-4643-9C6A-038EFFA52DED}" type="slidenum">
              <a:rPr lang="en-IN" smtClean="0"/>
              <a:t>5</a:t>
            </a:fld>
            <a:endParaRPr lang="en-IN"/>
          </a:p>
        </p:txBody>
      </p:sp>
    </p:spTree>
    <p:extLst>
      <p:ext uri="{BB962C8B-B14F-4D97-AF65-F5344CB8AC3E}">
        <p14:creationId xmlns:p14="http://schemas.microsoft.com/office/powerpoint/2010/main" val="664964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CF05CA-748F-4643-9C6A-038EFFA52DED}" type="slidenum">
              <a:rPr lang="en-IN" smtClean="0"/>
              <a:t>6</a:t>
            </a:fld>
            <a:endParaRPr lang="en-IN"/>
          </a:p>
        </p:txBody>
      </p:sp>
    </p:spTree>
    <p:extLst>
      <p:ext uri="{BB962C8B-B14F-4D97-AF65-F5344CB8AC3E}">
        <p14:creationId xmlns:p14="http://schemas.microsoft.com/office/powerpoint/2010/main" val="3526855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165867D-4632-FBD1-12D2-48EC6DC81260}"/>
              </a:ext>
            </a:extLst>
          </p:cNvPr>
          <p:cNvSpPr>
            <a:spLocks noGrp="1"/>
          </p:cNvSpPr>
          <p:nvPr>
            <p:ph type="ftr" sz="quarter" idx="10"/>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C9BD51-15B5-A429-B9D7-4646C0FF4097}"/>
              </a:ext>
            </a:extLst>
          </p:cNvPr>
          <p:cNvSpPr>
            <a:spLocks noGrp="1"/>
          </p:cNvSpPr>
          <p:nvPr>
            <p:ph type="ftr" sz="quarter" idx="10"/>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A645476-7A50-49FF-913C-221BEEEAE001}"/>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098671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3" name="Footer Placeholder 2">
            <a:extLst>
              <a:ext uri="{FF2B5EF4-FFF2-40B4-BE49-F238E27FC236}">
                <a16:creationId xmlns:a16="http://schemas.microsoft.com/office/drawing/2014/main" id="{C5A44627-592A-CA39-82ED-4BDF74FC36DD}"/>
              </a:ext>
            </a:extLst>
          </p:cNvPr>
          <p:cNvSpPr>
            <a:spLocks noGrp="1"/>
          </p:cNvSpPr>
          <p:nvPr>
            <p:ph type="ftr" sz="quarter" idx="3"/>
          </p:nvPr>
        </p:nvSpPr>
        <p:spPr>
          <a:xfrm>
            <a:off x="4038600" y="600004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650" r:id="rId1"/>
    <p:sldLayoutId id="2147483649" r:id="rId2"/>
    <p:sldLayoutId id="2147483651"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57200" y="3898396"/>
            <a:ext cx="4724400" cy="561179"/>
          </a:xfrm>
          <a:prstGeom prst="rect">
            <a:avLst/>
          </a:prstGeom>
          <a:noFill/>
        </p:spPr>
        <p:txBody>
          <a:bodyPr wrap="square" rtlCol="0">
            <a:spAutoFit/>
          </a:bodyPr>
          <a:lstStyle/>
          <a:p>
            <a:pPr indent="-457200">
              <a:lnSpc>
                <a:spcPts val="4000"/>
              </a:lnSpc>
            </a:pPr>
            <a:r>
              <a:rPr lang="en-US" sz="2400">
                <a:solidFill>
                  <a:schemeClr val="bg1"/>
                </a:solidFill>
                <a:latin typeface="Times New Roman" panose="02020603050405020304" pitchFamily="18" charset="0"/>
                <a:cs typeface="Times New Roman" panose="02020603050405020304" pitchFamily="18" charset="0"/>
              </a:rPr>
              <a:t>WELCOME TO</a:t>
            </a:r>
            <a:r>
              <a:rPr lang="en-US" sz="2800">
                <a:solidFill>
                  <a:schemeClr val="bg1"/>
                </a:solidFill>
                <a:latin typeface="Times New Roman" panose="02020603050405020304" pitchFamily="18" charset="0"/>
                <a:cs typeface="Times New Roman" panose="02020603050405020304" pitchFamily="18" charset="0"/>
              </a:rPr>
              <a:t> </a:t>
            </a:r>
          </a:p>
        </p:txBody>
      </p:sp>
      <p:sp>
        <p:nvSpPr>
          <p:cNvPr id="13" name="TextBox 12"/>
          <p:cNvSpPr txBox="1"/>
          <p:nvPr/>
        </p:nvSpPr>
        <p:spPr>
          <a:xfrm>
            <a:off x="457200" y="4380399"/>
            <a:ext cx="3716867" cy="400110"/>
          </a:xfrm>
          <a:prstGeom prst="rect">
            <a:avLst/>
          </a:prstGeom>
          <a:noFill/>
        </p:spPr>
        <p:txBody>
          <a:bodyPr wrap="square" rtlCol="0">
            <a:spAutoFit/>
          </a:bodyPr>
          <a:lstStyle/>
          <a:p>
            <a:r>
              <a:rPr lang="en-US" sz="2000" b="1">
                <a:solidFill>
                  <a:schemeClr val="bg1"/>
                </a:solidFill>
                <a:latin typeface="Times New Roman" panose="02020603050405020304" pitchFamily="18" charset="0"/>
                <a:cs typeface="Times New Roman" panose="02020603050405020304" pitchFamily="18" charset="0"/>
              </a:rPr>
              <a:t>BENNETT UNIVERSITY</a:t>
            </a:r>
          </a:p>
        </p:txBody>
      </p:sp>
      <p:pic>
        <p:nvPicPr>
          <p:cNvPr id="3" name="Picture 2" descr="Background pattern&#10;&#10;Description automatically generated with low confidence">
            <a:extLst>
              <a:ext uri="{FF2B5EF4-FFF2-40B4-BE49-F238E27FC236}">
                <a16:creationId xmlns:a16="http://schemas.microsoft.com/office/drawing/2014/main" id="{93BE0464-DB01-4373-BAD8-0AF7904D441D}"/>
              </a:ext>
            </a:extLst>
          </p:cNvPr>
          <p:cNvPicPr>
            <a:picLocks noChangeAspect="1"/>
          </p:cNvPicPr>
          <p:nvPr/>
        </p:nvPicPr>
        <p:blipFill>
          <a:blip r:embed="rId3"/>
          <a:stretch>
            <a:fillRect/>
          </a:stretch>
        </p:blipFill>
        <p:spPr>
          <a:xfrm>
            <a:off x="9081208" y="1"/>
            <a:ext cx="2974805" cy="1103138"/>
          </a:xfrm>
          <a:prstGeom prst="rect">
            <a:avLst/>
          </a:prstGeom>
        </p:spPr>
      </p:pic>
      <p:sp>
        <p:nvSpPr>
          <p:cNvPr id="6" name="TextBox 5">
            <a:extLst>
              <a:ext uri="{FF2B5EF4-FFF2-40B4-BE49-F238E27FC236}">
                <a16:creationId xmlns:a16="http://schemas.microsoft.com/office/drawing/2014/main" id="{CFB7FABF-6CB1-2E2A-4B15-871FFCA091B1}"/>
              </a:ext>
            </a:extLst>
          </p:cNvPr>
          <p:cNvSpPr txBox="1"/>
          <p:nvPr/>
        </p:nvSpPr>
        <p:spPr>
          <a:xfrm>
            <a:off x="292164" y="5053831"/>
            <a:ext cx="11416784" cy="1323439"/>
          </a:xfrm>
          <a:prstGeom prst="rect">
            <a:avLst/>
          </a:prstGeom>
          <a:noFill/>
        </p:spPr>
        <p:txBody>
          <a:bodyPr wrap="square" rtlCol="0">
            <a:spAutoFit/>
          </a:bodyPr>
          <a:lstStyle/>
          <a:p>
            <a:pPr lvl="0">
              <a:buClr>
                <a:srgbClr val="000000"/>
              </a:buClr>
              <a:buSzPts val="2000"/>
            </a:pPr>
            <a:r>
              <a:rPr lang="en-US" sz="2000" b="1" dirty="0">
                <a:solidFill>
                  <a:srgbClr val="002060"/>
                </a:solidFill>
                <a:ea typeface="Cambria"/>
                <a:cs typeface="Cambria"/>
                <a:sym typeface="Cambria"/>
              </a:rPr>
              <a:t>Presented by   : Prachi Aggarwal</a:t>
            </a:r>
            <a:endParaRPr lang="en-US" sz="1400" dirty="0">
              <a:solidFill>
                <a:srgbClr val="000000"/>
              </a:solidFill>
              <a:latin typeface="Arial"/>
              <a:ea typeface="Arial"/>
              <a:cs typeface="Arial"/>
              <a:sym typeface="Arial"/>
            </a:endParaRPr>
          </a:p>
          <a:p>
            <a:pPr lvl="0">
              <a:buClr>
                <a:srgbClr val="000000"/>
              </a:buClr>
              <a:buSzPts val="2000"/>
            </a:pPr>
            <a:r>
              <a:rPr lang="en-US" sz="2000" b="1" dirty="0">
                <a:solidFill>
                  <a:srgbClr val="002060"/>
                </a:solidFill>
                <a:ea typeface="Cambria"/>
                <a:cs typeface="Cambria"/>
                <a:sym typeface="Cambria"/>
              </a:rPr>
              <a:t>Enrolment No : 02518011922			Supervisors        :  Muntaha Rouf</a:t>
            </a:r>
            <a:endParaRPr lang="en-US" sz="1400" dirty="0">
              <a:solidFill>
                <a:srgbClr val="000000"/>
              </a:solidFill>
              <a:latin typeface="Arial"/>
              <a:ea typeface="Arial"/>
              <a:cs typeface="Arial"/>
              <a:sym typeface="Arial"/>
            </a:endParaRPr>
          </a:p>
          <a:p>
            <a:pPr lvl="0">
              <a:buClr>
                <a:srgbClr val="000000"/>
              </a:buClr>
              <a:buSzPts val="2000"/>
            </a:pPr>
            <a:r>
              <a:rPr lang="en-US" sz="2000" b="1" dirty="0">
                <a:solidFill>
                  <a:srgbClr val="002060"/>
                </a:solidFill>
                <a:ea typeface="Cambria"/>
                <a:cs typeface="Cambria"/>
                <a:sym typeface="Cambria"/>
              </a:rPr>
              <a:t>Semester        : 7                  					</a:t>
            </a:r>
            <a:endParaRPr lang="en-US" sz="1400" dirty="0">
              <a:solidFill>
                <a:srgbClr val="000000"/>
              </a:solidFill>
              <a:latin typeface="Arial"/>
              <a:ea typeface="Arial"/>
              <a:cs typeface="Arial"/>
              <a:sym typeface="Arial"/>
            </a:endParaRPr>
          </a:p>
          <a:p>
            <a:endParaRPr lang="en-IN" sz="2000" b="1" dirty="0">
              <a:solidFill>
                <a:srgbClr val="002060"/>
              </a:solidFill>
              <a:latin typeface="+mj-lt"/>
              <a:cs typeface="Calibri" panose="020F0502020204030204" pitchFamily="34" charset="0"/>
            </a:endParaRPr>
          </a:p>
        </p:txBody>
      </p:sp>
      <p:sp>
        <p:nvSpPr>
          <p:cNvPr id="8" name="TextBox 7">
            <a:extLst>
              <a:ext uri="{FF2B5EF4-FFF2-40B4-BE49-F238E27FC236}">
                <a16:creationId xmlns:a16="http://schemas.microsoft.com/office/drawing/2014/main" id="{F4E5AEC2-FACC-B70F-89BC-A2CF2FB9410A}"/>
              </a:ext>
            </a:extLst>
          </p:cNvPr>
          <p:cNvSpPr txBox="1"/>
          <p:nvPr/>
        </p:nvSpPr>
        <p:spPr>
          <a:xfrm>
            <a:off x="478554" y="1812481"/>
            <a:ext cx="7391026" cy="1508105"/>
          </a:xfrm>
          <a:prstGeom prst="rect">
            <a:avLst/>
          </a:prstGeom>
          <a:noFill/>
        </p:spPr>
        <p:txBody>
          <a:bodyPr wrap="square" rtlCol="0">
            <a:spAutoFit/>
          </a:bodyPr>
          <a:lstStyle/>
          <a:p>
            <a:pPr lvl="0">
              <a:buClr>
                <a:srgbClr val="000000"/>
              </a:buClr>
              <a:buSzPts val="2400"/>
            </a:pPr>
            <a:r>
              <a:rPr lang="en-US" sz="2000" b="1" dirty="0">
                <a:solidFill>
                  <a:schemeClr val="dk1"/>
                </a:solidFill>
                <a:ea typeface="Cambria"/>
                <a:cs typeface="Cambria"/>
                <a:sym typeface="Cambria"/>
              </a:rPr>
              <a:t>PROJECT TITLE: </a:t>
            </a:r>
            <a:endParaRPr lang="en-US" sz="2000" b="1" dirty="0"/>
          </a:p>
          <a:p>
            <a:pPr lvl="0">
              <a:buClr>
                <a:srgbClr val="000000"/>
              </a:buClr>
              <a:buSzPts val="2400"/>
            </a:pPr>
            <a:r>
              <a:rPr lang="en-US" sz="3600" b="1" dirty="0">
                <a:solidFill>
                  <a:schemeClr val="dk1"/>
                </a:solidFill>
                <a:ea typeface="Calibri"/>
                <a:cs typeface="Calibri"/>
                <a:sym typeface="Calibri"/>
              </a:rPr>
              <a:t>Gen Therapist – AI Chatbot for CBT</a:t>
            </a:r>
            <a:endParaRPr lang="en-US" sz="3600" b="1" dirty="0">
              <a:solidFill>
                <a:srgbClr val="000000"/>
              </a:solidFill>
            </a:endParaRPr>
          </a:p>
        </p:txBody>
      </p:sp>
      <p:sp>
        <p:nvSpPr>
          <p:cNvPr id="4" name="TextBox 3">
            <a:extLst>
              <a:ext uri="{FF2B5EF4-FFF2-40B4-BE49-F238E27FC236}">
                <a16:creationId xmlns:a16="http://schemas.microsoft.com/office/drawing/2014/main" id="{23687642-189F-3C81-DD1D-A736DD3311C7}"/>
              </a:ext>
            </a:extLst>
          </p:cNvPr>
          <p:cNvSpPr txBox="1"/>
          <p:nvPr/>
        </p:nvSpPr>
        <p:spPr>
          <a:xfrm>
            <a:off x="3046615" y="3248490"/>
            <a:ext cx="6093228" cy="954107"/>
          </a:xfrm>
          <a:prstGeom prst="rect">
            <a:avLst/>
          </a:prstGeom>
          <a:noFill/>
        </p:spPr>
        <p:txBody>
          <a:bodyPr wrap="square">
            <a:spAutoFit/>
          </a:bodyPr>
          <a:lstStyle/>
          <a:p>
            <a:pPr lvl="0">
              <a:buSzPts val="2000"/>
            </a:pPr>
            <a:endParaRPr lang="en-US" sz="2800" b="1" dirty="0">
              <a:solidFill>
                <a:schemeClr val="tx1"/>
              </a:solidFill>
              <a:latin typeface="+mj-lt"/>
              <a:cs typeface="Times New Roman" panose="02020603050405020304" pitchFamily="18" charset="0"/>
            </a:endParaRPr>
          </a:p>
          <a:p>
            <a:pPr lvl="0">
              <a:buSzPts val="2000"/>
            </a:pPr>
            <a:r>
              <a:rPr lang="en-US" sz="2800" b="1" dirty="0">
                <a:solidFill>
                  <a:schemeClr val="tx1"/>
                </a:solidFill>
                <a:latin typeface="+mj-lt"/>
                <a:cs typeface="Times New Roman" panose="02020603050405020304" pitchFamily="18" charset="0"/>
              </a:rPr>
              <a:t>MINOR PROJECT  (AIDS 451)</a:t>
            </a:r>
            <a:endParaRPr lang="en-US" sz="2800" b="1" i="0" u="none" strike="noStrike" cap="none" dirty="0">
              <a:solidFill>
                <a:schemeClr val="tx1"/>
              </a:solidFill>
              <a:latin typeface="+mj-lt"/>
              <a:cs typeface="Times New Roman" panose="02020603050405020304" pitchFamily="18" charset="0"/>
              <a:sym typeface="Arial"/>
            </a:endParaRPr>
          </a:p>
        </p:txBody>
      </p:sp>
    </p:spTree>
    <p:extLst>
      <p:ext uri="{BB962C8B-B14F-4D97-AF65-F5344CB8AC3E}">
        <p14:creationId xmlns:p14="http://schemas.microsoft.com/office/powerpoint/2010/main" val="2720984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3AE987-4A06-49B7-F28D-383B38D6D189}"/>
              </a:ext>
            </a:extLst>
          </p:cNvPr>
          <p:cNvSpPr>
            <a:spLocks noGrp="1"/>
          </p:cNvSpPr>
          <p:nvPr>
            <p:ph type="sldNum" sz="quarter" idx="4294967295"/>
          </p:nvPr>
        </p:nvSpPr>
        <p:spPr>
          <a:xfrm>
            <a:off x="8610600" y="6133916"/>
            <a:ext cx="2743200" cy="365125"/>
          </a:xfrm>
          <a:prstGeom prst="rect">
            <a:avLst/>
          </a:prstGeom>
        </p:spPr>
        <p:txBody>
          <a:bodyPr vert="horz" lIns="91440" tIns="45720" rIns="91440" bIns="45720" rtlCol="0" anchor="ctr">
            <a:normAutofit lnSpcReduction="10000"/>
          </a:bodyPr>
          <a:lstStyle/>
          <a:p>
            <a:pPr>
              <a:spcAft>
                <a:spcPts val="600"/>
              </a:spcAft>
            </a:pPr>
            <a:fld id="{47AFB63F-7D0F-4C4C-97DF-F48093569EF4}" type="slidenum">
              <a:rPr lang="en-US">
                <a:solidFill>
                  <a:srgbClr val="FFFFFF"/>
                </a:solidFill>
              </a:rPr>
              <a:pPr>
                <a:spcAft>
                  <a:spcPts val="600"/>
                </a:spcAft>
              </a:pPr>
              <a:t>2</a:t>
            </a:fld>
            <a:endParaRPr lang="en-US">
              <a:solidFill>
                <a:srgbClr val="FFFFFF"/>
              </a:solidFill>
            </a:endParaRPr>
          </a:p>
        </p:txBody>
      </p:sp>
      <p:sp>
        <p:nvSpPr>
          <p:cNvPr id="2" name="Rectangle 1">
            <a:extLst>
              <a:ext uri="{FF2B5EF4-FFF2-40B4-BE49-F238E27FC236}">
                <a16:creationId xmlns:a16="http://schemas.microsoft.com/office/drawing/2014/main" id="{FE52FFBE-39B9-11C1-9BAD-082C9455480A}"/>
              </a:ext>
            </a:extLst>
          </p:cNvPr>
          <p:cNvSpPr/>
          <p:nvPr/>
        </p:nvSpPr>
        <p:spPr>
          <a:xfrm>
            <a:off x="6003640" y="2967335"/>
            <a:ext cx="184730" cy="923330"/>
          </a:xfrm>
          <a:prstGeom prst="rect">
            <a:avLst/>
          </a:prstGeom>
          <a:noFill/>
        </p:spPr>
        <p:txBody>
          <a:bodyPr wrap="none" lIns="91440" tIns="45720" rIns="91440" bIns="45720">
            <a:spAutoFit/>
          </a:bodyPr>
          <a:lstStyle/>
          <a:p>
            <a:pPr algn="ct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5" name="TextBox 4">
            <a:extLst>
              <a:ext uri="{FF2B5EF4-FFF2-40B4-BE49-F238E27FC236}">
                <a16:creationId xmlns:a16="http://schemas.microsoft.com/office/drawing/2014/main" id="{66C8B1A4-89FF-71BD-6455-C1FA9ED96A73}"/>
              </a:ext>
            </a:extLst>
          </p:cNvPr>
          <p:cNvSpPr txBox="1"/>
          <p:nvPr/>
        </p:nvSpPr>
        <p:spPr>
          <a:xfrm>
            <a:off x="4094018" y="1585944"/>
            <a:ext cx="6093228" cy="584775"/>
          </a:xfrm>
          <a:prstGeom prst="rect">
            <a:avLst/>
          </a:prstGeom>
          <a:noFill/>
        </p:spPr>
        <p:txBody>
          <a:bodyPr wrap="square">
            <a:spAutoFit/>
          </a:bodyPr>
          <a:lstStyle/>
          <a:p>
            <a:r>
              <a:rPr lang="en-US" sz="3200" b="1" dirty="0"/>
              <a:t>INTRODUCTION</a:t>
            </a:r>
          </a:p>
        </p:txBody>
      </p:sp>
      <p:sp>
        <p:nvSpPr>
          <p:cNvPr id="7" name="TextBox 6">
            <a:extLst>
              <a:ext uri="{FF2B5EF4-FFF2-40B4-BE49-F238E27FC236}">
                <a16:creationId xmlns:a16="http://schemas.microsoft.com/office/drawing/2014/main" id="{3B2472BB-E9AF-48CD-6DBF-0CD89222B9DD}"/>
              </a:ext>
            </a:extLst>
          </p:cNvPr>
          <p:cNvSpPr txBox="1"/>
          <p:nvPr/>
        </p:nvSpPr>
        <p:spPr>
          <a:xfrm>
            <a:off x="748145" y="3019884"/>
            <a:ext cx="10740044" cy="2179764"/>
          </a:xfrm>
          <a:prstGeom prst="rect">
            <a:avLst/>
          </a:prstGeom>
          <a:noFill/>
        </p:spPr>
        <p:txBody>
          <a:bodyPr wrap="square">
            <a:spAutoFit/>
          </a:bodyPr>
          <a:lstStyle/>
          <a:p>
            <a:pPr algn="just">
              <a:lnSpc>
                <a:spcPct val="115000"/>
              </a:lnSpc>
              <a:spcBef>
                <a:spcPts val="800"/>
              </a:spcBef>
            </a:pPr>
            <a:r>
              <a:rPr lang="en-US" sz="2400" dirty="0"/>
              <a:t>Gen Therapist is an AI-powered chatbot designed to provide Cognitive Behavioral Therapy (CBT)–based emotional support. It uses Natural Language Processing to engage in empathetic and meaningful conversations, helping users manage stress, anxiety, and negative thoughts. The chatbot offers a private, accessible, and affordable solution for improving mental well-being anytime and anywhere.</a:t>
            </a:r>
            <a:endParaRPr lang="en-US" sz="2400" dirty="0">
              <a:latin typeface="+mj-lt"/>
              <a:cs typeface="Times New Roman" panose="02020603050405020304" pitchFamily="18" charset="0"/>
            </a:endParaRPr>
          </a:p>
        </p:txBody>
      </p:sp>
    </p:spTree>
    <p:extLst>
      <p:ext uri="{BB962C8B-B14F-4D97-AF65-F5344CB8AC3E}">
        <p14:creationId xmlns:p14="http://schemas.microsoft.com/office/powerpoint/2010/main" val="1236473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64D1C88-C5D3-E169-3818-F1304528BBDE}"/>
              </a:ext>
            </a:extLst>
          </p:cNvPr>
          <p:cNvSpPr/>
          <p:nvPr/>
        </p:nvSpPr>
        <p:spPr>
          <a:xfrm>
            <a:off x="324034" y="221796"/>
            <a:ext cx="5646199" cy="79040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dk2"/>
                </a:solidFill>
                <a:ea typeface="Cambria"/>
                <a:cs typeface="Cambria"/>
                <a:sym typeface="Cambria"/>
              </a:rPr>
              <a:t> </a:t>
            </a:r>
            <a:r>
              <a:rPr lang="en-US" sz="2800" dirty="0"/>
              <a:t>Problem Statement</a:t>
            </a:r>
            <a:endParaRPr lang="en-US" sz="2800" b="1" dirty="0">
              <a:solidFill>
                <a:schemeClr val="dk2"/>
              </a:solidFill>
              <a:ea typeface="Cambria"/>
              <a:cs typeface="Cambria"/>
              <a:sym typeface="Cambria"/>
            </a:endParaRPr>
          </a:p>
          <a:p>
            <a:pPr algn="ctr"/>
            <a:r>
              <a:rPr lang="en-US" sz="2800" b="1" dirty="0">
                <a:solidFill>
                  <a:schemeClr val="tx1"/>
                </a:solidFill>
              </a:rPr>
              <a:t>Literature Survey </a:t>
            </a:r>
          </a:p>
        </p:txBody>
      </p:sp>
      <p:sp>
        <p:nvSpPr>
          <p:cNvPr id="3" name="Rectangle 2">
            <a:extLst>
              <a:ext uri="{FF2B5EF4-FFF2-40B4-BE49-F238E27FC236}">
                <a16:creationId xmlns:a16="http://schemas.microsoft.com/office/drawing/2014/main" id="{1D39896E-EFDE-EE8B-AC4E-2295D71C4D21}"/>
              </a:ext>
            </a:extLst>
          </p:cNvPr>
          <p:cNvSpPr/>
          <p:nvPr/>
        </p:nvSpPr>
        <p:spPr>
          <a:xfrm>
            <a:off x="-615142" y="1372336"/>
            <a:ext cx="49876" cy="373337"/>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endParaRPr lang="en-US" sz="2400" dirty="0">
              <a:solidFill>
                <a:schemeClr val="tx1"/>
              </a:solidFill>
              <a:latin typeface="+mj-lt"/>
              <a:cs typeface="Times New Roman" pitchFamily="18" charset="0"/>
            </a:endParaRPr>
          </a:p>
          <a:p>
            <a:endParaRPr lang="en-US" sz="2400" dirty="0">
              <a:solidFill>
                <a:schemeClr val="tx1"/>
              </a:solidFill>
              <a:latin typeface="+mj-lt"/>
              <a:cs typeface="Times New Roman" pitchFamily="18" charset="0"/>
            </a:endParaRPr>
          </a:p>
        </p:txBody>
      </p:sp>
      <p:sp>
        <p:nvSpPr>
          <p:cNvPr id="6" name="Rectangle 3">
            <a:extLst>
              <a:ext uri="{FF2B5EF4-FFF2-40B4-BE49-F238E27FC236}">
                <a16:creationId xmlns:a16="http://schemas.microsoft.com/office/drawing/2014/main" id="{E2CF9EBA-CBD9-40D9-171E-5DE31D2CB25B}"/>
              </a:ext>
            </a:extLst>
          </p:cNvPr>
          <p:cNvSpPr>
            <a:spLocks noChangeArrowheads="1"/>
          </p:cNvSpPr>
          <p:nvPr/>
        </p:nvSpPr>
        <p:spPr bwMode="auto">
          <a:xfrm>
            <a:off x="0" y="-5032130"/>
            <a:ext cx="12396342" cy="10064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AI-based chatbots using CBT methods have shown positive results in reducing anxiety and depression.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Studies highlight the success of tools like </a:t>
            </a:r>
            <a:r>
              <a:rPr kumimoji="0" lang="en-US" altLang="en-US" sz="1800" b="1" i="0" u="none" strike="noStrike" cap="none" normalizeH="0" baseline="0" dirty="0" err="1">
                <a:ln>
                  <a:noFill/>
                </a:ln>
                <a:solidFill>
                  <a:schemeClr val="tx1"/>
                </a:solidFill>
                <a:effectLst/>
                <a:latin typeface="Arial" panose="020B0604020202020204" pitchFamily="34" charset="0"/>
              </a:rPr>
              <a:t>Woebot</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err="1">
                <a:ln>
                  <a:noFill/>
                </a:ln>
                <a:solidFill>
                  <a:schemeClr val="tx1"/>
                </a:solidFill>
                <a:effectLst/>
                <a:latin typeface="Arial" panose="020B0604020202020204" pitchFamily="34" charset="0"/>
              </a:rPr>
              <a:t>Wysa</a:t>
            </a:r>
            <a:r>
              <a:rPr kumimoji="0" lang="en-US" altLang="en-US" sz="1800" b="0" i="0" u="none" strike="noStrike" cap="none" normalizeH="0" baseline="0" dirty="0">
                <a:ln>
                  <a:noFill/>
                </a:ln>
                <a:solidFill>
                  <a:schemeClr val="tx1"/>
                </a:solidFill>
                <a:effectLst/>
                <a:latin typeface="Arial" panose="020B0604020202020204" pitchFamily="34" charset="0"/>
              </a:rPr>
              <a:t> in providing emotional support through conversation.</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Natural Language Processing (NLP)</a:t>
            </a:r>
            <a:r>
              <a:rPr kumimoji="0" lang="en-US" altLang="en-US" sz="1800" b="0" i="0" u="none" strike="noStrike" cap="none" normalizeH="0" baseline="0" dirty="0">
                <a:ln>
                  <a:noFill/>
                </a:ln>
                <a:solidFill>
                  <a:schemeClr val="tx1"/>
                </a:solidFill>
                <a:effectLst/>
                <a:latin typeface="Arial" panose="020B0604020202020204" pitchFamily="34" charset="0"/>
              </a:rPr>
              <a:t> enables chatbots to understand user emotions and respond empathetically.</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Research suggests virtual therapy can be a </a:t>
            </a:r>
            <a:r>
              <a:rPr kumimoji="0" lang="en-US" altLang="en-US" sz="1800" b="1" i="0" u="none" strike="noStrike" cap="none" normalizeH="0" baseline="0" dirty="0">
                <a:ln>
                  <a:noFill/>
                </a:ln>
                <a:solidFill>
                  <a:schemeClr val="tx1"/>
                </a:solidFill>
                <a:effectLst/>
                <a:latin typeface="Arial" panose="020B0604020202020204" pitchFamily="34" charset="0"/>
              </a:rPr>
              <a:t>cost-effective and scalable</a:t>
            </a:r>
            <a:r>
              <a:rPr kumimoji="0" lang="en-US" altLang="en-US" sz="1800" b="0" i="0" u="none" strike="noStrike" cap="none" normalizeH="0" baseline="0" dirty="0">
                <a:ln>
                  <a:noFill/>
                </a:ln>
                <a:solidFill>
                  <a:schemeClr val="tx1"/>
                </a:solidFill>
                <a:effectLst/>
                <a:latin typeface="Arial" panose="020B0604020202020204" pitchFamily="34" charset="0"/>
              </a:rPr>
              <a:t> alternative to human counseling.</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Chatbots ensure </a:t>
            </a:r>
            <a:r>
              <a:rPr kumimoji="0" lang="en-US" altLang="en-US" sz="1800" b="1" i="0" u="none" strike="noStrike" cap="none" normalizeH="0" baseline="0" dirty="0">
                <a:ln>
                  <a:noFill/>
                </a:ln>
                <a:solidFill>
                  <a:schemeClr val="tx1"/>
                </a:solidFill>
                <a:effectLst/>
                <a:latin typeface="Arial" panose="020B0604020202020204" pitchFamily="34" charset="0"/>
              </a:rPr>
              <a:t>privacy and accessibility</a:t>
            </a:r>
            <a:r>
              <a:rPr kumimoji="0" lang="en-US" altLang="en-US" sz="1800" b="0" i="0" u="none" strike="noStrike" cap="none" normalizeH="0" baseline="0" dirty="0">
                <a:ln>
                  <a:noFill/>
                </a:ln>
                <a:solidFill>
                  <a:schemeClr val="tx1"/>
                </a:solidFill>
                <a:effectLst/>
                <a:latin typeface="Arial" panose="020B0604020202020204" pitchFamily="34" charset="0"/>
              </a:rPr>
              <a:t>, encouraging users to seek help without stigma</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Continuous improvements in </a:t>
            </a:r>
            <a:r>
              <a:rPr kumimoji="0" lang="en-US" altLang="en-US" sz="1800" b="1" i="0" u="none" strike="noStrike" cap="none" normalizeH="0" baseline="0" dirty="0">
                <a:ln>
                  <a:noFill/>
                </a:ln>
                <a:solidFill>
                  <a:schemeClr val="tx1"/>
                </a:solidFill>
                <a:effectLst/>
                <a:latin typeface="Arial" panose="020B0604020202020204" pitchFamily="34" charset="0"/>
              </a:rPr>
              <a:t>machine learning</a:t>
            </a:r>
            <a:r>
              <a:rPr kumimoji="0" lang="en-US" altLang="en-US" sz="1800" b="0" i="0" u="none" strike="noStrike" cap="none" normalizeH="0" baseline="0" dirty="0">
                <a:ln>
                  <a:noFill/>
                </a:ln>
                <a:solidFill>
                  <a:schemeClr val="tx1"/>
                </a:solidFill>
                <a:effectLst/>
                <a:latin typeface="Arial" panose="020B0604020202020204" pitchFamily="34" charset="0"/>
              </a:rPr>
              <a:t> are enhancing the accuracy and personalization of therapy responses.</a:t>
            </a:r>
          </a:p>
        </p:txBody>
      </p:sp>
    </p:spTree>
    <p:extLst>
      <p:ext uri="{BB962C8B-B14F-4D97-AF65-F5344CB8AC3E}">
        <p14:creationId xmlns:p14="http://schemas.microsoft.com/office/powerpoint/2010/main" val="468582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64D1C88-C5D3-E169-3818-F1304528BBDE}"/>
              </a:ext>
            </a:extLst>
          </p:cNvPr>
          <p:cNvSpPr/>
          <p:nvPr/>
        </p:nvSpPr>
        <p:spPr>
          <a:xfrm>
            <a:off x="324034" y="221796"/>
            <a:ext cx="5646199" cy="79040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2"/>
                </a:solidFill>
              </a:rPr>
              <a:t>PROPOSED METHODOLOGY </a:t>
            </a:r>
          </a:p>
        </p:txBody>
      </p:sp>
      <p:sp>
        <p:nvSpPr>
          <p:cNvPr id="3" name="Rectangle 2">
            <a:extLst>
              <a:ext uri="{FF2B5EF4-FFF2-40B4-BE49-F238E27FC236}">
                <a16:creationId xmlns:a16="http://schemas.microsoft.com/office/drawing/2014/main" id="{1D39896E-EFDE-EE8B-AC4E-2295D71C4D21}"/>
              </a:ext>
            </a:extLst>
          </p:cNvPr>
          <p:cNvSpPr/>
          <p:nvPr/>
        </p:nvSpPr>
        <p:spPr>
          <a:xfrm>
            <a:off x="123745" y="1283989"/>
            <a:ext cx="11944510" cy="471605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07C5BDA8-4564-27DF-22E9-08E7F1CBE80C}"/>
              </a:ext>
            </a:extLst>
          </p:cNvPr>
          <p:cNvSpPr>
            <a:spLocks noGrp="1"/>
          </p:cNvSpPr>
          <p:nvPr>
            <p:ph type="ftr" sz="quarter" idx="10"/>
          </p:nvPr>
        </p:nvSpPr>
        <p:spPr>
          <a:xfrm>
            <a:off x="4038600" y="6000041"/>
            <a:ext cx="7249160" cy="365125"/>
          </a:xfrm>
        </p:spPr>
        <p:txBody>
          <a:bodyPr/>
          <a:lstStyle/>
          <a:p>
            <a:r>
              <a:rPr lang="en-US" dirty="0"/>
              <a:t>[1] ICMR – NCDIR                                         [2] American Cancer Society</a:t>
            </a:r>
          </a:p>
        </p:txBody>
      </p:sp>
      <p:sp>
        <p:nvSpPr>
          <p:cNvPr id="4" name="Rectangle 1">
            <a:extLst>
              <a:ext uri="{FF2B5EF4-FFF2-40B4-BE49-F238E27FC236}">
                <a16:creationId xmlns:a16="http://schemas.microsoft.com/office/drawing/2014/main" id="{272E925E-BE29-6990-CD06-3CAB2485335B}"/>
              </a:ext>
            </a:extLst>
          </p:cNvPr>
          <p:cNvSpPr>
            <a:spLocks noChangeArrowheads="1"/>
          </p:cNvSpPr>
          <p:nvPr/>
        </p:nvSpPr>
        <p:spPr bwMode="auto">
          <a:xfrm>
            <a:off x="0" y="-5724630"/>
            <a:ext cx="11944510" cy="114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Data Collection</a:t>
            </a:r>
            <a:r>
              <a:rPr kumimoji="0" lang="en-US" altLang="en-US" sz="1800" b="0" i="0" u="none" strike="noStrike" cap="none" normalizeH="0" baseline="0" dirty="0">
                <a:ln>
                  <a:noFill/>
                </a:ln>
                <a:solidFill>
                  <a:schemeClr val="tx1"/>
                </a:solidFill>
                <a:effectLst/>
                <a:latin typeface="Arial" panose="020B0604020202020204" pitchFamily="34" charset="0"/>
              </a:rPr>
              <a:t> — Gather CBT therapy scripts, anonymized counseling transcripts, and relevant conversational datasets.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Preprocessing</a:t>
            </a:r>
            <a:r>
              <a:rPr kumimoji="0" lang="en-US" altLang="en-US" sz="1800" b="0" i="0" u="none" strike="noStrike" cap="none" normalizeH="0" baseline="0" dirty="0">
                <a:ln>
                  <a:noFill/>
                </a:ln>
                <a:solidFill>
                  <a:schemeClr val="tx1"/>
                </a:solidFill>
                <a:effectLst/>
                <a:latin typeface="Arial" panose="020B0604020202020204" pitchFamily="34" charset="0"/>
              </a:rPr>
              <a:t> — Clean text, tokenize, remove noise, label intents, and perform sentiment/emotion tagging.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Model Development</a:t>
            </a:r>
            <a:r>
              <a:rPr kumimoji="0" lang="en-US" altLang="en-US" sz="1800" b="0" i="0" u="none" strike="noStrike" cap="none" normalizeH="0" baseline="0" dirty="0">
                <a:ln>
                  <a:noFill/>
                </a:ln>
                <a:solidFill>
                  <a:schemeClr val="tx1"/>
                </a:solidFill>
                <a:effectLst/>
                <a:latin typeface="Arial" panose="020B0604020202020204" pitchFamily="34" charset="0"/>
              </a:rPr>
              <a:t> — Fine-tune a pre-trained NLP model (e.g., BERT/GPT) for intent recognition and response generation.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Dialogue Management</a:t>
            </a:r>
            <a:r>
              <a:rPr kumimoji="0" lang="en-US" altLang="en-US" sz="1800" b="0" i="0" u="none" strike="noStrike" cap="none" normalizeH="0" baseline="0" dirty="0">
                <a:ln>
                  <a:noFill/>
                </a:ln>
                <a:solidFill>
                  <a:schemeClr val="tx1"/>
                </a:solidFill>
                <a:effectLst/>
                <a:latin typeface="Arial" panose="020B0604020202020204" pitchFamily="34" charset="0"/>
              </a:rPr>
              <a:t> — Combine rule-based CBT flows with ML-driven responses to keep therapy safe and focused.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CBT Module Integration</a:t>
            </a:r>
            <a:r>
              <a:rPr kumimoji="0" lang="en-US" altLang="en-US" sz="1800" b="0" i="0" u="none" strike="noStrike" cap="none" normalizeH="0" baseline="0" dirty="0">
                <a:ln>
                  <a:noFill/>
                </a:ln>
                <a:solidFill>
                  <a:schemeClr val="tx1"/>
                </a:solidFill>
                <a:effectLst/>
                <a:latin typeface="Arial" panose="020B0604020202020204" pitchFamily="34" charset="0"/>
              </a:rPr>
              <a:t> — Implement guided exercises (thought records, behavioral experiments, breathing) and structured prompts.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5812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83AD1EB9-6639-90F8-0D3F-C16521CFE0C4}"/>
              </a:ext>
            </a:extLst>
          </p:cNvPr>
          <p:cNvSpPr>
            <a:spLocks noChangeArrowheads="1"/>
          </p:cNvSpPr>
          <p:nvPr/>
        </p:nvSpPr>
        <p:spPr bwMode="auto">
          <a:xfrm>
            <a:off x="0" y="-3508643"/>
            <a:ext cx="11994502" cy="701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UI &amp; Backend</a:t>
            </a:r>
            <a:r>
              <a:rPr kumimoji="0" lang="en-US" altLang="en-US" sz="1800" b="0" i="0" u="none" strike="noStrike" cap="none" normalizeH="0" baseline="0" dirty="0">
                <a:ln>
                  <a:noFill/>
                </a:ln>
                <a:solidFill>
                  <a:schemeClr val="tx1"/>
                </a:solidFill>
                <a:effectLst/>
                <a:latin typeface="Arial" panose="020B0604020202020204" pitchFamily="34" charset="0"/>
              </a:rPr>
              <a:t> — Build a simple web/mobile interface with secure user sessions and conversation logging.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Testing &amp; Evaluation</a:t>
            </a:r>
            <a:r>
              <a:rPr kumimoji="0" lang="en-US" altLang="en-US" sz="1800" b="0" i="0" u="none" strike="noStrike" cap="none" normalizeH="0" baseline="0" dirty="0">
                <a:ln>
                  <a:noFill/>
                </a:ln>
                <a:solidFill>
                  <a:schemeClr val="tx1"/>
                </a:solidFill>
                <a:effectLst/>
                <a:latin typeface="Arial" panose="020B0604020202020204" pitchFamily="34" charset="0"/>
              </a:rPr>
              <a:t> — Conduct user testing, clinical validation (if possible), measure engagement and symptom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change, and iterate.</a:t>
            </a:r>
          </a:p>
        </p:txBody>
      </p:sp>
    </p:spTree>
    <p:extLst>
      <p:ext uri="{BB962C8B-B14F-4D97-AF65-F5344CB8AC3E}">
        <p14:creationId xmlns:p14="http://schemas.microsoft.com/office/powerpoint/2010/main" val="199712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64D1C88-C5D3-E169-3818-F1304528BBDE}"/>
              </a:ext>
            </a:extLst>
          </p:cNvPr>
          <p:cNvSpPr/>
          <p:nvPr/>
        </p:nvSpPr>
        <p:spPr>
          <a:xfrm>
            <a:off x="324034" y="221796"/>
            <a:ext cx="5771966" cy="79040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2"/>
                </a:solidFill>
              </a:rPr>
              <a:t>PROPOSED METHOLOGY</a:t>
            </a:r>
          </a:p>
        </p:txBody>
      </p:sp>
      <p:sp>
        <p:nvSpPr>
          <p:cNvPr id="3" name="Rectangle 2">
            <a:extLst>
              <a:ext uri="{FF2B5EF4-FFF2-40B4-BE49-F238E27FC236}">
                <a16:creationId xmlns:a16="http://schemas.microsoft.com/office/drawing/2014/main" id="{1D39896E-EFDE-EE8B-AC4E-2295D71C4D21}"/>
              </a:ext>
            </a:extLst>
          </p:cNvPr>
          <p:cNvSpPr/>
          <p:nvPr/>
        </p:nvSpPr>
        <p:spPr>
          <a:xfrm>
            <a:off x="123745" y="1283989"/>
            <a:ext cx="11944510" cy="471605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marL="800100" lvl="1" indent="-342900">
              <a:buFont typeface="Arial" panose="020B0604020202020204" pitchFamily="34" charset="0"/>
              <a:buChar char="•"/>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B653F96-D516-80A9-C46F-E119C4F5F4AB}"/>
              </a:ext>
            </a:extLst>
          </p:cNvPr>
          <p:cNvSpPr txBox="1"/>
          <p:nvPr/>
        </p:nvSpPr>
        <p:spPr>
          <a:xfrm>
            <a:off x="1429789" y="1804986"/>
            <a:ext cx="7930342" cy="4276748"/>
          </a:xfrm>
          <a:prstGeom prst="rect">
            <a:avLst/>
          </a:prstGeom>
          <a:noFill/>
        </p:spPr>
        <p:txBody>
          <a:bodyPr wrap="square">
            <a:spAutoFit/>
          </a:bodyPr>
          <a:lstStyle/>
          <a:p>
            <a:pPr marL="457200" indent="-457200">
              <a:buFont typeface="Arial" panose="020B0604020202020204" pitchFamily="34" charset="0"/>
              <a:buChar char="•"/>
            </a:pPr>
            <a:r>
              <a:rPr lang="en-US" sz="2400" b="1" dirty="0">
                <a:latin typeface="+mn-lt"/>
                <a:cs typeface="Times New Roman" panose="02020603050405020304" pitchFamily="18" charset="0"/>
              </a:rPr>
              <a:t>Data Collection: </a:t>
            </a:r>
            <a:r>
              <a:rPr lang="en-US" sz="2400" dirty="0">
                <a:latin typeface="+mn-lt"/>
                <a:cs typeface="Times New Roman" panose="02020603050405020304" pitchFamily="18" charset="0"/>
              </a:rPr>
              <a:t>Use CBT therapy scripts, conversational datasets.</a:t>
            </a:r>
          </a:p>
          <a:p>
            <a:pPr marL="457200" indent="-457200">
              <a:buFont typeface="Arial" panose="020B0604020202020204" pitchFamily="34" charset="0"/>
              <a:buChar char="•"/>
            </a:pPr>
            <a:r>
              <a:rPr lang="en-US" sz="2400" b="1" dirty="0">
                <a:latin typeface="+mn-lt"/>
                <a:cs typeface="Times New Roman" panose="02020603050405020304" pitchFamily="18" charset="0"/>
              </a:rPr>
              <a:t>Preprocessing: </a:t>
            </a:r>
            <a:r>
              <a:rPr lang="en-US" sz="2400" dirty="0">
                <a:latin typeface="+mn-lt"/>
                <a:cs typeface="Times New Roman" panose="02020603050405020304" pitchFamily="18" charset="0"/>
              </a:rPr>
              <a:t>Tokenization, stop-word removal, sentiment analysis.</a:t>
            </a:r>
          </a:p>
          <a:p>
            <a:pPr marL="457200" indent="-457200">
              <a:buFont typeface="Arial" panose="020B0604020202020204" pitchFamily="34" charset="0"/>
              <a:buChar char="•"/>
            </a:pPr>
            <a:r>
              <a:rPr lang="en-US" sz="2400" b="1" dirty="0">
                <a:latin typeface="+mn-lt"/>
                <a:cs typeface="Times New Roman" panose="02020603050405020304" pitchFamily="18" charset="0"/>
              </a:rPr>
              <a:t>Model Development: </a:t>
            </a:r>
            <a:r>
              <a:rPr lang="en-US" sz="2400" dirty="0">
                <a:latin typeface="+mn-lt"/>
                <a:cs typeface="Times New Roman" panose="02020603050405020304" pitchFamily="18" charset="0"/>
              </a:rPr>
              <a:t>Train NLP-based chatbot models.</a:t>
            </a:r>
          </a:p>
          <a:p>
            <a:pPr marL="457200" indent="-457200">
              <a:buFont typeface="Arial" panose="020B0604020202020204" pitchFamily="34" charset="0"/>
              <a:buChar char="•"/>
            </a:pPr>
            <a:r>
              <a:rPr lang="en-US" sz="2400" b="1" dirty="0">
                <a:latin typeface="+mn-lt"/>
                <a:cs typeface="Times New Roman" panose="02020603050405020304" pitchFamily="18" charset="0"/>
              </a:rPr>
              <a:t>Dialog Management: </a:t>
            </a:r>
            <a:r>
              <a:rPr lang="en-US" sz="2400" dirty="0">
                <a:latin typeface="+mn-lt"/>
                <a:cs typeface="Times New Roman" panose="02020603050405020304" pitchFamily="18" charset="0"/>
              </a:rPr>
              <a:t>Rule-based + ML-driven responses for CBT exercises.</a:t>
            </a:r>
          </a:p>
          <a:p>
            <a:pPr marL="457200" indent="-457200">
              <a:buFont typeface="Arial" panose="020B0604020202020204" pitchFamily="34" charset="0"/>
              <a:buChar char="•"/>
            </a:pPr>
            <a:r>
              <a:rPr lang="en-US" sz="2400" b="1" dirty="0">
                <a:latin typeface="+mn-lt"/>
                <a:cs typeface="Times New Roman" panose="02020603050405020304" pitchFamily="18" charset="0"/>
              </a:rPr>
              <a:t>User Interaction Layer: </a:t>
            </a:r>
            <a:r>
              <a:rPr lang="en-US" sz="2400" dirty="0">
                <a:latin typeface="+mn-lt"/>
                <a:cs typeface="Times New Roman" panose="02020603050405020304" pitchFamily="18" charset="0"/>
              </a:rPr>
              <a:t>Web/mobile app interface.</a:t>
            </a:r>
          </a:p>
          <a:p>
            <a:pPr marL="457200" indent="-457200">
              <a:buFont typeface="Arial" panose="020B0604020202020204" pitchFamily="34" charset="0"/>
              <a:buChar char="•"/>
            </a:pPr>
            <a:r>
              <a:rPr lang="en-US" sz="2400" b="1" dirty="0">
                <a:latin typeface="+mn-lt"/>
                <a:cs typeface="Times New Roman" panose="02020603050405020304" pitchFamily="18" charset="0"/>
              </a:rPr>
              <a:t>Testing &amp; Feedback: </a:t>
            </a:r>
            <a:r>
              <a:rPr lang="en-US" sz="2400" dirty="0">
                <a:latin typeface="+mn-lt"/>
                <a:cs typeface="Times New Roman" panose="02020603050405020304" pitchFamily="18" charset="0"/>
              </a:rPr>
              <a:t>Validate effectiveness through user trials.</a:t>
            </a:r>
          </a:p>
          <a:p>
            <a:pPr marL="457200" lvl="0" indent="-457200" algn="just" rtl="0">
              <a:lnSpc>
                <a:spcPct val="115000"/>
              </a:lnSpc>
              <a:spcBef>
                <a:spcPts val="800"/>
              </a:spcBef>
              <a:spcAft>
                <a:spcPts val="0"/>
              </a:spcAft>
              <a:buClr>
                <a:schemeClr val="dk1"/>
              </a:buClr>
              <a:buSzPts val="1100"/>
              <a:buFont typeface="Arial" panose="020B0604020202020204" pitchFamily="34" charset="0"/>
              <a:buChar char="•"/>
            </a:pPr>
            <a:endParaRPr lang="en-US" sz="2400" dirty="0">
              <a:solidFill>
                <a:schemeClr val="dk1"/>
              </a:solidFill>
              <a:latin typeface="+mn-lt"/>
              <a:cs typeface="Times New Roman" panose="02020603050405020304" pitchFamily="18" charset="0"/>
            </a:endParaRPr>
          </a:p>
        </p:txBody>
      </p:sp>
    </p:spTree>
    <p:extLst>
      <p:ext uri="{BB962C8B-B14F-4D97-AF65-F5344CB8AC3E}">
        <p14:creationId xmlns:p14="http://schemas.microsoft.com/office/powerpoint/2010/main" val="509870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3AE987-4A06-49B7-F28D-383B38D6D189}"/>
              </a:ext>
            </a:extLst>
          </p:cNvPr>
          <p:cNvSpPr>
            <a:spLocks noGrp="1"/>
          </p:cNvSpPr>
          <p:nvPr>
            <p:ph type="sldNum" sz="quarter" idx="4294967295"/>
          </p:nvPr>
        </p:nvSpPr>
        <p:spPr>
          <a:xfrm>
            <a:off x="8610600" y="6133916"/>
            <a:ext cx="2743200" cy="365125"/>
          </a:xfrm>
          <a:prstGeom prst="rect">
            <a:avLst/>
          </a:prstGeom>
        </p:spPr>
        <p:txBody>
          <a:bodyPr vert="horz" lIns="91440" tIns="45720" rIns="91440" bIns="45720" rtlCol="0" anchor="ctr">
            <a:normAutofit lnSpcReduction="10000"/>
          </a:bodyPr>
          <a:lstStyle/>
          <a:p>
            <a:pPr>
              <a:spcAft>
                <a:spcPts val="600"/>
              </a:spcAft>
            </a:pPr>
            <a:fld id="{47AFB63F-7D0F-4C4C-97DF-F48093569EF4}" type="slidenum">
              <a:rPr lang="en-US">
                <a:solidFill>
                  <a:srgbClr val="FFFFFF"/>
                </a:solidFill>
              </a:rPr>
              <a:pPr>
                <a:spcAft>
                  <a:spcPts val="600"/>
                </a:spcAft>
              </a:pPr>
              <a:t>7</a:t>
            </a:fld>
            <a:endParaRPr lang="en-US">
              <a:solidFill>
                <a:srgbClr val="FFFFFF"/>
              </a:solidFill>
            </a:endParaRPr>
          </a:p>
        </p:txBody>
      </p:sp>
      <p:sp>
        <p:nvSpPr>
          <p:cNvPr id="4" name="Rectangle: Rounded Corners 6">
            <a:extLst>
              <a:ext uri="{FF2B5EF4-FFF2-40B4-BE49-F238E27FC236}">
                <a16:creationId xmlns:a16="http://schemas.microsoft.com/office/drawing/2014/main" id="{EE440699-74E0-DB1D-1E7B-111E2F9277A1}"/>
              </a:ext>
            </a:extLst>
          </p:cNvPr>
          <p:cNvSpPr/>
          <p:nvPr/>
        </p:nvSpPr>
        <p:spPr>
          <a:xfrm>
            <a:off x="324034" y="221796"/>
            <a:ext cx="5771966" cy="79040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2"/>
                </a:solidFill>
              </a:rPr>
              <a:t>REFERENCES</a:t>
            </a:r>
          </a:p>
        </p:txBody>
      </p:sp>
      <p:sp>
        <p:nvSpPr>
          <p:cNvPr id="5" name="Rectangle 1">
            <a:extLst>
              <a:ext uri="{FF2B5EF4-FFF2-40B4-BE49-F238E27FC236}">
                <a16:creationId xmlns:a16="http://schemas.microsoft.com/office/drawing/2014/main" id="{50647ABF-E52A-69EA-94CF-33BBA50D1789}"/>
              </a:ext>
            </a:extLst>
          </p:cNvPr>
          <p:cNvSpPr>
            <a:spLocks noChangeArrowheads="1"/>
          </p:cNvSpPr>
          <p:nvPr/>
        </p:nvSpPr>
        <p:spPr bwMode="auto">
          <a:xfrm>
            <a:off x="0" y="-5309132"/>
            <a:ext cx="11554691" cy="10618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Kolimi</a:t>
            </a:r>
            <a:r>
              <a:rPr kumimoji="0" lang="en-US" altLang="en-US" sz="1800" b="0" i="0" u="none" strike="noStrike" cap="none" normalizeH="0" baseline="0" dirty="0">
                <a:ln>
                  <a:noFill/>
                </a:ln>
                <a:solidFill>
                  <a:schemeClr val="tx1"/>
                </a:solidFill>
                <a:effectLst/>
                <a:latin typeface="Arial" panose="020B0604020202020204" pitchFamily="34" charset="0"/>
              </a:rPr>
              <a:t>, R. et al. (2022). </a:t>
            </a:r>
            <a:r>
              <a:rPr kumimoji="0" lang="en-US" altLang="en-US" sz="1800" b="0" i="1" u="none" strike="noStrike" cap="none" normalizeH="0" baseline="0" dirty="0">
                <a:ln>
                  <a:noFill/>
                </a:ln>
                <a:solidFill>
                  <a:schemeClr val="tx1"/>
                </a:solidFill>
                <a:effectLst/>
                <a:latin typeface="Arial" panose="020B0604020202020204" pitchFamily="34" charset="0"/>
              </a:rPr>
              <a:t>AI-Powered Chatbots for Mental Health Support Using CBT Techniques.</a:t>
            </a:r>
            <a:r>
              <a:rPr kumimoji="0" lang="en-US" altLang="en-US" sz="1800" b="0" i="0" u="none" strike="noStrike" cap="none" normalizeH="0" baseline="0" dirty="0">
                <a:ln>
                  <a:noFill/>
                </a:ln>
                <a:solidFill>
                  <a:schemeClr val="tx1"/>
                </a:solidFill>
                <a:effectLst/>
                <a:latin typeface="Arial" panose="020B0604020202020204" pitchFamily="34" charset="0"/>
              </a:rPr>
              <a:t> Journal of Artificial Intelligence Research.</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American Psychological Association (2021). </a:t>
            </a:r>
            <a:r>
              <a:rPr kumimoji="0" lang="en-US" altLang="en-US" sz="1800" b="0" i="1" u="none" strike="noStrike" cap="none" normalizeH="0" baseline="0" dirty="0">
                <a:ln>
                  <a:noFill/>
                </a:ln>
                <a:solidFill>
                  <a:schemeClr val="tx1"/>
                </a:solidFill>
                <a:effectLst/>
                <a:latin typeface="Arial" panose="020B0604020202020204" pitchFamily="34" charset="0"/>
              </a:rPr>
              <a:t>Effectiveness of Cognitive Behavioral Therapy for Anxiety and Depression.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ICMR–NCDIR (2021). </a:t>
            </a:r>
            <a:r>
              <a:rPr kumimoji="0" lang="en-US" altLang="en-US" sz="1800" b="0" i="1" u="none" strike="noStrike" cap="none" normalizeH="0" baseline="0" dirty="0">
                <a:ln>
                  <a:noFill/>
                </a:ln>
                <a:solidFill>
                  <a:schemeClr val="tx1"/>
                </a:solidFill>
                <a:effectLst/>
                <a:latin typeface="Arial" panose="020B0604020202020204" pitchFamily="34" charset="0"/>
              </a:rPr>
              <a:t>Mental Health and Well-Being Report – India.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Fitzpatrick, K. K., Darcy, A., &amp; </a:t>
            </a:r>
            <a:r>
              <a:rPr kumimoji="0" lang="en-US" altLang="en-US" sz="1800" b="0" i="0" u="none" strike="noStrike" cap="none" normalizeH="0" baseline="0" dirty="0" err="1">
                <a:ln>
                  <a:noFill/>
                </a:ln>
                <a:solidFill>
                  <a:schemeClr val="tx1"/>
                </a:solidFill>
                <a:effectLst/>
                <a:latin typeface="Arial" panose="020B0604020202020204" pitchFamily="34" charset="0"/>
              </a:rPr>
              <a:t>Vierhile</a:t>
            </a:r>
            <a:r>
              <a:rPr kumimoji="0" lang="en-US" altLang="en-US" sz="1800" b="0" i="0" u="none" strike="noStrike" cap="none" normalizeH="0" baseline="0" dirty="0">
                <a:ln>
                  <a:noFill/>
                </a:ln>
                <a:solidFill>
                  <a:schemeClr val="tx1"/>
                </a:solidFill>
                <a:effectLst/>
                <a:latin typeface="Arial" panose="020B0604020202020204" pitchFamily="34" charset="0"/>
              </a:rPr>
              <a:t>, M. (2017). </a:t>
            </a:r>
            <a:r>
              <a:rPr kumimoji="0" lang="en-US" altLang="en-US" sz="1800" b="0" i="1" u="none" strike="noStrike" cap="none" normalizeH="0" baseline="0" dirty="0">
                <a:ln>
                  <a:noFill/>
                </a:ln>
                <a:solidFill>
                  <a:schemeClr val="tx1"/>
                </a:solidFill>
                <a:effectLst/>
                <a:latin typeface="Arial" panose="020B0604020202020204" pitchFamily="34" charset="0"/>
              </a:rPr>
              <a:t>Delivering CBT via Conversational Agent (</a:t>
            </a:r>
            <a:r>
              <a:rPr kumimoji="0" lang="en-US" altLang="en-US" sz="1800" b="0" i="1" u="none" strike="noStrike" cap="none" normalizeH="0" baseline="0" dirty="0" err="1">
                <a:ln>
                  <a:noFill/>
                </a:ln>
                <a:solidFill>
                  <a:schemeClr val="tx1"/>
                </a:solidFill>
                <a:effectLst/>
                <a:latin typeface="Arial" panose="020B0604020202020204" pitchFamily="34" charset="0"/>
              </a:rPr>
              <a:t>Woebot</a:t>
            </a:r>
            <a:r>
              <a:rPr kumimoji="0" lang="en-US" altLang="en-US" sz="1800" b="0" i="1" u="none" strike="noStrike" cap="none" normalizeH="0" baseline="0" dirty="0">
                <a:ln>
                  <a:noFill/>
                </a:ln>
                <a:solidFill>
                  <a:schemeClr val="tx1"/>
                </a:solidFill>
                <a:effectLst/>
                <a:latin typeface="Arial" panose="020B0604020202020204" pitchFamily="34" charset="0"/>
              </a:rPr>
              <a:t>): Randomized Controlled Trial.</a:t>
            </a:r>
            <a:r>
              <a:rPr kumimoji="0" lang="en-US" altLang="en-US" sz="1800" b="0" i="0" u="none" strike="noStrike" cap="none" normalizeH="0" baseline="0" dirty="0">
                <a:ln>
                  <a:noFill/>
                </a:ln>
                <a:solidFill>
                  <a:schemeClr val="tx1"/>
                </a:solidFill>
                <a:effectLst/>
                <a:latin typeface="Arial" panose="020B0604020202020204" pitchFamily="34" charset="0"/>
              </a:rPr>
              <a:t> JMIR Mental Health.</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Wysa</a:t>
            </a:r>
            <a:r>
              <a:rPr kumimoji="0" lang="en-US" altLang="en-US" sz="1800" b="0" i="0" u="none" strike="noStrike" cap="none" normalizeH="0" baseline="0" dirty="0">
                <a:ln>
                  <a:noFill/>
                </a:ln>
                <a:solidFill>
                  <a:schemeClr val="tx1"/>
                </a:solidFill>
                <a:effectLst/>
                <a:latin typeface="Arial" panose="020B0604020202020204" pitchFamily="34" charset="0"/>
              </a:rPr>
              <a:t> Labs (2022). </a:t>
            </a:r>
            <a:r>
              <a:rPr kumimoji="0" lang="en-US" altLang="en-US" sz="1800" b="0" i="1" u="none" strike="noStrike" cap="none" normalizeH="0" baseline="0" dirty="0">
                <a:ln>
                  <a:noFill/>
                </a:ln>
                <a:solidFill>
                  <a:schemeClr val="tx1"/>
                </a:solidFill>
                <a:effectLst/>
                <a:latin typeface="Arial" panose="020B0604020202020204" pitchFamily="34" charset="0"/>
              </a:rPr>
              <a:t>AI-Driven Mental Health Chatbot – Technical Overview and User Studies.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4979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6">
            <a:extLst>
              <a:ext uri="{FF2B5EF4-FFF2-40B4-BE49-F238E27FC236}">
                <a16:creationId xmlns:a16="http://schemas.microsoft.com/office/drawing/2014/main" id="{898ECC04-2819-7E9C-0635-879B60BCF0FA}"/>
              </a:ext>
            </a:extLst>
          </p:cNvPr>
          <p:cNvSpPr/>
          <p:nvPr/>
        </p:nvSpPr>
        <p:spPr>
          <a:xfrm>
            <a:off x="324034" y="221796"/>
            <a:ext cx="5646199" cy="79040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2"/>
                </a:solidFill>
                <a:latin typeface="+mj-lt"/>
              </a:rPr>
              <a:t>SCREENSHOTS</a:t>
            </a:r>
          </a:p>
        </p:txBody>
      </p:sp>
      <p:pic>
        <p:nvPicPr>
          <p:cNvPr id="4" name="Picture 3">
            <a:extLst>
              <a:ext uri="{FF2B5EF4-FFF2-40B4-BE49-F238E27FC236}">
                <a16:creationId xmlns:a16="http://schemas.microsoft.com/office/drawing/2014/main" id="{8DE16E84-E766-A1F7-41FA-A14E188DDE3C}"/>
              </a:ext>
            </a:extLst>
          </p:cNvPr>
          <p:cNvPicPr>
            <a:picLocks noChangeAspect="1"/>
          </p:cNvPicPr>
          <p:nvPr/>
        </p:nvPicPr>
        <p:blipFill>
          <a:blip r:embed="rId2"/>
          <a:stretch>
            <a:fillRect/>
          </a:stretch>
        </p:blipFill>
        <p:spPr>
          <a:xfrm>
            <a:off x="2527068" y="2185814"/>
            <a:ext cx="8027253" cy="3067830"/>
          </a:xfrm>
          <a:prstGeom prst="rect">
            <a:avLst/>
          </a:prstGeom>
        </p:spPr>
      </p:pic>
    </p:spTree>
    <p:extLst>
      <p:ext uri="{BB962C8B-B14F-4D97-AF65-F5344CB8AC3E}">
        <p14:creationId xmlns:p14="http://schemas.microsoft.com/office/powerpoint/2010/main" val="1625928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3AE987-4A06-49B7-F28D-383B38D6D189}"/>
              </a:ext>
            </a:extLst>
          </p:cNvPr>
          <p:cNvSpPr>
            <a:spLocks noGrp="1"/>
          </p:cNvSpPr>
          <p:nvPr>
            <p:ph type="sldNum" sz="quarter" idx="4294967295"/>
          </p:nvPr>
        </p:nvSpPr>
        <p:spPr>
          <a:xfrm>
            <a:off x="8610600" y="6133916"/>
            <a:ext cx="2743200" cy="365125"/>
          </a:xfrm>
          <a:prstGeom prst="rect">
            <a:avLst/>
          </a:prstGeom>
        </p:spPr>
        <p:txBody>
          <a:bodyPr vert="horz" lIns="91440" tIns="45720" rIns="91440" bIns="45720" rtlCol="0" anchor="ctr">
            <a:normAutofit lnSpcReduction="10000"/>
          </a:bodyPr>
          <a:lstStyle/>
          <a:p>
            <a:pPr>
              <a:spcAft>
                <a:spcPts val="600"/>
              </a:spcAft>
            </a:pPr>
            <a:fld id="{47AFB63F-7D0F-4C4C-97DF-F48093569EF4}" type="slidenum">
              <a:rPr lang="en-US">
                <a:solidFill>
                  <a:srgbClr val="FFFFFF"/>
                </a:solidFill>
              </a:rPr>
              <a:pPr>
                <a:spcAft>
                  <a:spcPts val="600"/>
                </a:spcAft>
              </a:pPr>
              <a:t>9</a:t>
            </a:fld>
            <a:endParaRPr lang="en-US">
              <a:solidFill>
                <a:srgbClr val="FFFFFF"/>
              </a:solidFill>
            </a:endParaRPr>
          </a:p>
        </p:txBody>
      </p:sp>
      <p:sp>
        <p:nvSpPr>
          <p:cNvPr id="4" name="Rectangle: Rounded Corners 6">
            <a:extLst>
              <a:ext uri="{FF2B5EF4-FFF2-40B4-BE49-F238E27FC236}">
                <a16:creationId xmlns:a16="http://schemas.microsoft.com/office/drawing/2014/main" id="{6855107C-DA7A-5FE6-41F7-0F6C27566FE4}"/>
              </a:ext>
            </a:extLst>
          </p:cNvPr>
          <p:cNvSpPr/>
          <p:nvPr/>
        </p:nvSpPr>
        <p:spPr>
          <a:xfrm>
            <a:off x="324034" y="221796"/>
            <a:ext cx="5646199" cy="79040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2"/>
                </a:solidFill>
                <a:latin typeface="+mj-lt"/>
              </a:rPr>
              <a:t>WEBHOOK TESTING </a:t>
            </a:r>
          </a:p>
        </p:txBody>
      </p:sp>
      <p:pic>
        <p:nvPicPr>
          <p:cNvPr id="7" name="Picture 6">
            <a:extLst>
              <a:ext uri="{FF2B5EF4-FFF2-40B4-BE49-F238E27FC236}">
                <a16:creationId xmlns:a16="http://schemas.microsoft.com/office/drawing/2014/main" id="{9B2B821B-5F20-7C92-3D50-DD1290E191B9}"/>
              </a:ext>
            </a:extLst>
          </p:cNvPr>
          <p:cNvPicPr>
            <a:picLocks noChangeAspect="1"/>
          </p:cNvPicPr>
          <p:nvPr/>
        </p:nvPicPr>
        <p:blipFill>
          <a:blip r:embed="rId2"/>
          <a:stretch>
            <a:fillRect/>
          </a:stretch>
        </p:blipFill>
        <p:spPr>
          <a:xfrm>
            <a:off x="324034" y="1484515"/>
            <a:ext cx="7668695" cy="1228896"/>
          </a:xfrm>
          <a:prstGeom prst="rect">
            <a:avLst/>
          </a:prstGeom>
        </p:spPr>
      </p:pic>
      <p:pic>
        <p:nvPicPr>
          <p:cNvPr id="10" name="Picture 9">
            <a:extLst>
              <a:ext uri="{FF2B5EF4-FFF2-40B4-BE49-F238E27FC236}">
                <a16:creationId xmlns:a16="http://schemas.microsoft.com/office/drawing/2014/main" id="{AE926494-31AB-2B52-8453-517D3D5182F6}"/>
              </a:ext>
            </a:extLst>
          </p:cNvPr>
          <p:cNvPicPr>
            <a:picLocks noChangeAspect="1"/>
          </p:cNvPicPr>
          <p:nvPr/>
        </p:nvPicPr>
        <p:blipFill>
          <a:blip r:embed="rId3"/>
          <a:stretch>
            <a:fillRect/>
          </a:stretch>
        </p:blipFill>
        <p:spPr>
          <a:xfrm>
            <a:off x="324034" y="2567982"/>
            <a:ext cx="6916115" cy="3153215"/>
          </a:xfrm>
          <a:prstGeom prst="rect">
            <a:avLst/>
          </a:prstGeom>
        </p:spPr>
      </p:pic>
    </p:spTree>
    <p:extLst>
      <p:ext uri="{BB962C8B-B14F-4D97-AF65-F5344CB8AC3E}">
        <p14:creationId xmlns:p14="http://schemas.microsoft.com/office/powerpoint/2010/main" val="1602283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05867-0D91-A606-948E-3CA21C09978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EE46801-395D-8373-8739-3D5BA209ACB1}"/>
              </a:ext>
            </a:extLst>
          </p:cNvPr>
          <p:cNvSpPr>
            <a:spLocks noGrp="1"/>
          </p:cNvSpPr>
          <p:nvPr>
            <p:ph type="sldNum" sz="quarter" idx="4294967295"/>
          </p:nvPr>
        </p:nvSpPr>
        <p:spPr>
          <a:xfrm>
            <a:off x="8610600" y="6133916"/>
            <a:ext cx="2743200" cy="365125"/>
          </a:xfrm>
          <a:prstGeom prst="rect">
            <a:avLst/>
          </a:prstGeom>
        </p:spPr>
        <p:txBody>
          <a:bodyPr vert="horz" lIns="91440" tIns="45720" rIns="91440" bIns="45720" rtlCol="0" anchor="ctr">
            <a:normAutofit lnSpcReduction="10000"/>
          </a:bodyPr>
          <a:lstStyle/>
          <a:p>
            <a:pPr>
              <a:spcAft>
                <a:spcPts val="600"/>
              </a:spcAft>
            </a:pPr>
            <a:fld id="{47AFB63F-7D0F-4C4C-97DF-F48093569EF4}" type="slidenum">
              <a:rPr lang="en-US">
                <a:solidFill>
                  <a:srgbClr val="FFFFFF"/>
                </a:solidFill>
              </a:rPr>
              <a:pPr>
                <a:spcAft>
                  <a:spcPts val="600"/>
                </a:spcAft>
              </a:pPr>
              <a:t>10</a:t>
            </a:fld>
            <a:endParaRPr lang="en-US">
              <a:solidFill>
                <a:srgbClr val="FFFFFF"/>
              </a:solidFill>
            </a:endParaRPr>
          </a:p>
        </p:txBody>
      </p:sp>
      <p:sp>
        <p:nvSpPr>
          <p:cNvPr id="4" name="Rectangle: Rounded Corners 6">
            <a:extLst>
              <a:ext uri="{FF2B5EF4-FFF2-40B4-BE49-F238E27FC236}">
                <a16:creationId xmlns:a16="http://schemas.microsoft.com/office/drawing/2014/main" id="{3BA80F2C-D509-D50B-F448-31CBD2E4B3E5}"/>
              </a:ext>
            </a:extLst>
          </p:cNvPr>
          <p:cNvSpPr/>
          <p:nvPr/>
        </p:nvSpPr>
        <p:spPr>
          <a:xfrm>
            <a:off x="324034" y="221796"/>
            <a:ext cx="5646199" cy="79040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2"/>
                </a:solidFill>
                <a:latin typeface="+mj-lt"/>
              </a:rPr>
              <a:t>WEBHOOK TESTING </a:t>
            </a:r>
          </a:p>
        </p:txBody>
      </p:sp>
      <p:pic>
        <p:nvPicPr>
          <p:cNvPr id="5" name="Picture 4">
            <a:extLst>
              <a:ext uri="{FF2B5EF4-FFF2-40B4-BE49-F238E27FC236}">
                <a16:creationId xmlns:a16="http://schemas.microsoft.com/office/drawing/2014/main" id="{0C07327B-723F-EFD4-70EB-2912FC7B9755}"/>
              </a:ext>
            </a:extLst>
          </p:cNvPr>
          <p:cNvPicPr>
            <a:picLocks noChangeAspect="1"/>
          </p:cNvPicPr>
          <p:nvPr/>
        </p:nvPicPr>
        <p:blipFill>
          <a:blip r:embed="rId2"/>
          <a:stretch>
            <a:fillRect/>
          </a:stretch>
        </p:blipFill>
        <p:spPr>
          <a:xfrm>
            <a:off x="716489" y="2420341"/>
            <a:ext cx="6935168" cy="3713574"/>
          </a:xfrm>
          <a:prstGeom prst="rect">
            <a:avLst/>
          </a:prstGeom>
        </p:spPr>
      </p:pic>
      <p:sp>
        <p:nvSpPr>
          <p:cNvPr id="8" name="TextBox 7">
            <a:extLst>
              <a:ext uri="{FF2B5EF4-FFF2-40B4-BE49-F238E27FC236}">
                <a16:creationId xmlns:a16="http://schemas.microsoft.com/office/drawing/2014/main" id="{3ED9CD26-1B74-4E98-A475-60C3B8DB188C}"/>
              </a:ext>
            </a:extLst>
          </p:cNvPr>
          <p:cNvSpPr txBox="1"/>
          <p:nvPr/>
        </p:nvSpPr>
        <p:spPr>
          <a:xfrm>
            <a:off x="586047" y="1254605"/>
            <a:ext cx="9145385" cy="923330"/>
          </a:xfrm>
          <a:prstGeom prst="rect">
            <a:avLst/>
          </a:prstGeom>
          <a:noFill/>
        </p:spPr>
        <p:txBody>
          <a:bodyPr wrap="square">
            <a:spAutoFit/>
          </a:bodyPr>
          <a:lstStyle/>
          <a:p>
            <a:r>
              <a:rPr lang="en-US" dirty="0"/>
              <a:t>curl -X POST "https://prachi2208.app.n8n.cloud/webhook-test/e7353a1d-913f-47b8-a07e-250f60308def" -H "Content-Type: application/</a:t>
            </a:r>
            <a:r>
              <a:rPr lang="en-US" dirty="0" err="1"/>
              <a:t>json</a:t>
            </a:r>
            <a:r>
              <a:rPr lang="en-US" dirty="0"/>
              <a:t>" -d "{\"user\":\"Prachi\",\"message\":\"I am feeling stressed today\"}"</a:t>
            </a:r>
          </a:p>
        </p:txBody>
      </p:sp>
    </p:spTree>
    <p:extLst>
      <p:ext uri="{BB962C8B-B14F-4D97-AF65-F5344CB8AC3E}">
        <p14:creationId xmlns:p14="http://schemas.microsoft.com/office/powerpoint/2010/main" val="3559580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C5A66-4266-4472-89AE-0B39C95FEC7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E1C048-87FA-982A-A4EC-EC1C433ABB9A}"/>
              </a:ext>
            </a:extLst>
          </p:cNvPr>
          <p:cNvSpPr>
            <a:spLocks noGrp="1"/>
          </p:cNvSpPr>
          <p:nvPr>
            <p:ph type="sldNum" sz="quarter" idx="4294967295"/>
          </p:nvPr>
        </p:nvSpPr>
        <p:spPr>
          <a:xfrm>
            <a:off x="8610600" y="6133916"/>
            <a:ext cx="2743200" cy="365125"/>
          </a:xfrm>
          <a:prstGeom prst="rect">
            <a:avLst/>
          </a:prstGeom>
        </p:spPr>
        <p:txBody>
          <a:bodyPr vert="horz" lIns="91440" tIns="45720" rIns="91440" bIns="45720" rtlCol="0" anchor="ctr">
            <a:normAutofit lnSpcReduction="10000"/>
          </a:bodyPr>
          <a:lstStyle/>
          <a:p>
            <a:pPr>
              <a:spcAft>
                <a:spcPts val="600"/>
              </a:spcAft>
            </a:pPr>
            <a:fld id="{47AFB63F-7D0F-4C4C-97DF-F48093569EF4}" type="slidenum">
              <a:rPr lang="en-US">
                <a:solidFill>
                  <a:srgbClr val="FFFFFF"/>
                </a:solidFill>
              </a:rPr>
              <a:pPr>
                <a:spcAft>
                  <a:spcPts val="600"/>
                </a:spcAft>
              </a:pPr>
              <a:t>11</a:t>
            </a:fld>
            <a:endParaRPr lang="en-US">
              <a:solidFill>
                <a:srgbClr val="FFFFFF"/>
              </a:solidFill>
            </a:endParaRPr>
          </a:p>
        </p:txBody>
      </p:sp>
      <p:pic>
        <p:nvPicPr>
          <p:cNvPr id="2" name="Picture 1">
            <a:extLst>
              <a:ext uri="{FF2B5EF4-FFF2-40B4-BE49-F238E27FC236}">
                <a16:creationId xmlns:a16="http://schemas.microsoft.com/office/drawing/2014/main" id="{6AD0AAB0-43AB-A4B0-A95F-FD6D0D133033}"/>
              </a:ext>
            </a:extLst>
          </p:cNvPr>
          <p:cNvPicPr>
            <a:picLocks noChangeAspect="1"/>
          </p:cNvPicPr>
          <p:nvPr/>
        </p:nvPicPr>
        <p:blipFill>
          <a:blip r:embed="rId2"/>
          <a:stretch>
            <a:fillRect/>
          </a:stretch>
        </p:blipFill>
        <p:spPr>
          <a:xfrm>
            <a:off x="432261" y="1729048"/>
            <a:ext cx="9310255" cy="3773101"/>
          </a:xfrm>
          <a:prstGeom prst="rect">
            <a:avLst/>
          </a:prstGeom>
        </p:spPr>
      </p:pic>
      <p:sp>
        <p:nvSpPr>
          <p:cNvPr id="4" name="Rectangle: Rounded Corners 6">
            <a:extLst>
              <a:ext uri="{FF2B5EF4-FFF2-40B4-BE49-F238E27FC236}">
                <a16:creationId xmlns:a16="http://schemas.microsoft.com/office/drawing/2014/main" id="{A8DC280A-5A00-124A-2EDB-1C4796A3BA15}"/>
              </a:ext>
            </a:extLst>
          </p:cNvPr>
          <p:cNvSpPr/>
          <p:nvPr/>
        </p:nvSpPr>
        <p:spPr>
          <a:xfrm>
            <a:off x="324034" y="221796"/>
            <a:ext cx="5646199" cy="79040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a:solidFill>
                  <a:schemeClr val="tx2"/>
                </a:solidFill>
                <a:latin typeface="+mj-lt"/>
              </a:rPr>
              <a:t>TELEGRAM TESTING </a:t>
            </a:r>
          </a:p>
        </p:txBody>
      </p:sp>
    </p:spTree>
    <p:extLst>
      <p:ext uri="{BB962C8B-B14F-4D97-AF65-F5344CB8AC3E}">
        <p14:creationId xmlns:p14="http://schemas.microsoft.com/office/powerpoint/2010/main" val="10835042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9C92F430564EF4D984C4A50052D1AF6" ma:contentTypeVersion="8" ma:contentTypeDescription="Create a new document." ma:contentTypeScope="" ma:versionID="8ea2e7608f469c9e254f81e35472f47d">
  <xsd:schema xmlns:xsd="http://www.w3.org/2001/XMLSchema" xmlns:xs="http://www.w3.org/2001/XMLSchema" xmlns:p="http://schemas.microsoft.com/office/2006/metadata/properties" xmlns:ns2="0fbc9270-0da3-4309-bbac-5b4c8771e74b" xmlns:ns3="ab30937d-86ce-40fb-8648-9463b070ea83" targetNamespace="http://schemas.microsoft.com/office/2006/metadata/properties" ma:root="true" ma:fieldsID="c5e28a6ccad94107522dd8297a35fb96" ns2:_="" ns3:_="">
    <xsd:import namespace="0fbc9270-0da3-4309-bbac-5b4c8771e74b"/>
    <xsd:import namespace="ab30937d-86ce-40fb-8648-9463b070ea8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bc9270-0da3-4309-bbac-5b4c8771e7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30937d-86ce-40fb-8648-9463b070ea8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D4AB573-32BB-4E18-B6D3-B305A81C5866}">
  <ds:schemaRefs>
    <ds:schemaRef ds:uri="http://schemas.microsoft.com/sharepoint/v3/contenttype/forms"/>
  </ds:schemaRefs>
</ds:datastoreItem>
</file>

<file path=customXml/itemProps2.xml><?xml version="1.0" encoding="utf-8"?>
<ds:datastoreItem xmlns:ds="http://schemas.openxmlformats.org/officeDocument/2006/customXml" ds:itemID="{4C11DFEF-612F-4141-B56D-150EBCE7DFAF}">
  <ds:schemaRefs>
    <ds:schemaRef ds:uri="0fbc9270-0da3-4309-bbac-5b4c8771e74b"/>
    <ds:schemaRef ds:uri="ab30937d-86ce-40fb-8648-9463b070ea8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74F48E1-9933-4391-8244-83C4EEB51C21}">
  <ds:schemaRefs>
    <ds:schemaRef ds:uri="http://schemas.microsoft.com/office/infopath/2007/PartnerControls"/>
    <ds:schemaRef ds:uri="0fbc9270-0da3-4309-bbac-5b4c8771e74b"/>
    <ds:schemaRef ds:uri="http://purl.org/dc/terms/"/>
    <ds:schemaRef ds:uri="http://purl.org/dc/elements/1.1/"/>
    <ds:schemaRef ds:uri="http://schemas.openxmlformats.org/package/2006/metadata/core-properties"/>
    <ds:schemaRef ds:uri="http://schemas.microsoft.com/office/2006/documentManagement/types"/>
    <ds:schemaRef ds:uri="ab30937d-86ce-40fb-8648-9463b070ea83"/>
    <ds:schemaRef ds:uri="http://www.w3.org/XML/1998/namespace"/>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Ion</Template>
  <TotalTime>6644</TotalTime>
  <Words>661</Words>
  <Application>Microsoft Office PowerPoint</Application>
  <PresentationFormat>Widescreen</PresentationFormat>
  <Paragraphs>177</Paragraphs>
  <Slides>11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Swarnim Swasti</dc:creator>
  <cp:lastModifiedBy>Prachi Aggarwal</cp:lastModifiedBy>
  <cp:revision>232</cp:revision>
  <dcterms:created xsi:type="dcterms:W3CDTF">2020-12-21T19:32:45Z</dcterms:created>
  <dcterms:modified xsi:type="dcterms:W3CDTF">2025-10-31T09:04:20Z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0x01010069C92F430564EF4D984C4A50052D1AF6</vt:lpwstr>
  </property>
</Properties>
</file>